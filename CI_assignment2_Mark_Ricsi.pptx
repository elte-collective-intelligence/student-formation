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Raleway"/>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1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F794A6-AB1B-40BB-A508-E327C009875F}">
  <a:tblStyle styleId="{B2F794A6-AB1B-40BB-A508-E327C009875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1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bold.fntdata"/><Relationship Id="rId10" Type="http://schemas.openxmlformats.org/officeDocument/2006/relationships/slide" Target="slides/slide4.xml"/><Relationship Id="rId32" Type="http://schemas.openxmlformats.org/officeDocument/2006/relationships/font" Target="fonts/Raleway-regular.fntdata"/><Relationship Id="rId13" Type="http://schemas.openxmlformats.org/officeDocument/2006/relationships/slide" Target="slides/slide7.xml"/><Relationship Id="rId35" Type="http://schemas.openxmlformats.org/officeDocument/2006/relationships/font" Target="fonts/Raleway-boldItalic.fntdata"/><Relationship Id="rId12" Type="http://schemas.openxmlformats.org/officeDocument/2006/relationships/slide" Target="slides/slide6.xml"/><Relationship Id="rId34" Type="http://schemas.openxmlformats.org/officeDocument/2006/relationships/font" Target="fonts/Raleway-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24885dccc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24885dccc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24885dccc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24885dccc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24885dccc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24885dccc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24885dccc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24885dccc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24885dccc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24885dccc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24885dccc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24885dccc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24885dccc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24885dccc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24885dccc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24885dccc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24885dccc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24885dccc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24885dccc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24885dccc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24885dccc_1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24885dccc_1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24885dccc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24885dccc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24885dccc_4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24885dccc_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24885dccc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24885dccc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24885dccc_4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b24885dccc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24885dccc_4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24885dccc_4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24885dccc_4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24885dccc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24885dccc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24885dccc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24885dccc_4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24885dccc_4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24885dccc_4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24885dccc_4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24885dccc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24885dccc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24885dccc_4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24885dccc_4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24885dccc_4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24885dccc_4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24885dccc_1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b24885dccc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h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h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hyperlink" Target="https://github.com/elte-collective-intelligence/student-formation/tree/2025/26/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Formation</a:t>
            </a:r>
            <a:endParaRPr/>
          </a:p>
          <a:p>
            <a:pPr indent="0" lvl="0" marL="0" rtl="0" algn="l">
              <a:spcBef>
                <a:spcPts val="0"/>
              </a:spcBef>
              <a:spcAft>
                <a:spcPts val="0"/>
              </a:spcAft>
              <a:buNone/>
            </a:pPr>
            <a:r>
              <a:rPr lang="hu" sz="1800">
                <a:solidFill>
                  <a:srgbClr val="666666"/>
                </a:solidFill>
              </a:rPr>
              <a:t>Collective Intelligence - Second Assignment</a:t>
            </a:r>
            <a:endParaRPr sz="1800">
              <a:solidFill>
                <a:srgbClr val="666666"/>
              </a:solidFill>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Contributors: Márk Róbert Baricz, Richard Sipos</a:t>
            </a:r>
            <a:endParaRPr sz="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Key elements from previous semester</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hu" sz="1600"/>
              <a:t>PPO Clip as the main algorithm</a:t>
            </a:r>
            <a:endParaRPr sz="1600"/>
          </a:p>
          <a:p>
            <a:pPr indent="-330200" lvl="0" marL="457200" rtl="0" algn="l">
              <a:spcBef>
                <a:spcPts val="0"/>
              </a:spcBef>
              <a:spcAft>
                <a:spcPts val="0"/>
              </a:spcAft>
              <a:buSzPts val="1600"/>
              <a:buChar char="-"/>
            </a:pPr>
            <a:r>
              <a:rPr lang="hu" sz="1600"/>
              <a:t>CTDE paradigm</a:t>
            </a:r>
            <a:endParaRPr sz="1600"/>
          </a:p>
          <a:p>
            <a:pPr indent="-330200" lvl="0" marL="457200" rtl="0" algn="l">
              <a:spcBef>
                <a:spcPts val="0"/>
              </a:spcBef>
              <a:spcAft>
                <a:spcPts val="0"/>
              </a:spcAft>
              <a:buSzPts val="1600"/>
              <a:buChar char="-"/>
            </a:pPr>
            <a:r>
              <a:rPr lang="hu" sz="1600"/>
              <a:t>Hydra config setup, logging to WandB</a:t>
            </a:r>
            <a:endParaRPr sz="1600"/>
          </a:p>
          <a:p>
            <a:pPr indent="-330200" lvl="0" marL="457200" rtl="0" algn="l">
              <a:spcBef>
                <a:spcPts val="0"/>
              </a:spcBef>
              <a:spcAft>
                <a:spcPts val="0"/>
              </a:spcAft>
              <a:buSzPts val="1600"/>
              <a:buChar char="-"/>
            </a:pPr>
            <a:r>
              <a:rPr lang="hu" sz="1600"/>
              <a:t>Visualizer script to export GIFs </a:t>
            </a:r>
            <a:r>
              <a:rPr lang="hu"/>
              <a:t>(improvement needed)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Main features introduced in our version</a:t>
            </a:r>
            <a:endParaRPr/>
          </a:p>
        </p:txBody>
      </p:sp>
      <p:sp>
        <p:nvSpPr>
          <p:cNvPr id="99" name="Google Shape;99;p15"/>
          <p:cNvSpPr txBox="1"/>
          <p:nvPr>
            <p:ph idx="1" type="body"/>
          </p:nvPr>
        </p:nvSpPr>
        <p:spPr>
          <a:xfrm>
            <a:off x="729450" y="2078875"/>
            <a:ext cx="7688700" cy="27603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hu"/>
              <a:t>SDF interface with support for 3 shapes (circle, polygon, star)</a:t>
            </a:r>
            <a:endParaRPr/>
          </a:p>
          <a:p>
            <a:pPr indent="-304958" lvl="0" marL="457200" rtl="0" algn="l">
              <a:spcBef>
                <a:spcPts val="0"/>
              </a:spcBef>
              <a:spcAft>
                <a:spcPts val="0"/>
              </a:spcAft>
              <a:buSzPct val="100000"/>
              <a:buChar char="-"/>
            </a:pPr>
            <a:r>
              <a:rPr lang="hu"/>
              <a:t>Observation and reward redesign</a:t>
            </a:r>
            <a:endParaRPr/>
          </a:p>
          <a:p>
            <a:pPr indent="-304958" lvl="0" marL="457200" rtl="0" algn="l">
              <a:spcBef>
                <a:spcPts val="0"/>
              </a:spcBef>
              <a:spcAft>
                <a:spcPts val="0"/>
              </a:spcAft>
              <a:buSzPct val="100000"/>
              <a:buChar char="-"/>
            </a:pPr>
            <a:r>
              <a:rPr lang="hu"/>
              <a:t>Assignment strategies (hungarian, greedy)</a:t>
            </a:r>
            <a:endParaRPr/>
          </a:p>
          <a:p>
            <a:pPr indent="-304958" lvl="0" marL="457200" rtl="0" algn="l">
              <a:spcBef>
                <a:spcPts val="0"/>
              </a:spcBef>
              <a:spcAft>
                <a:spcPts val="0"/>
              </a:spcAft>
              <a:buSzPct val="100000"/>
              <a:buChar char="-"/>
            </a:pPr>
            <a:r>
              <a:rPr lang="hu"/>
              <a:t>Multi-shape scenes</a:t>
            </a:r>
            <a:endParaRPr/>
          </a:p>
          <a:p>
            <a:pPr indent="-304958" lvl="0" marL="457200" rtl="0" algn="l">
              <a:spcBef>
                <a:spcPts val="0"/>
              </a:spcBef>
              <a:spcAft>
                <a:spcPts val="0"/>
              </a:spcAft>
              <a:buSzPct val="100000"/>
              <a:buChar char="-"/>
            </a:pPr>
            <a:r>
              <a:rPr lang="hu"/>
              <a:t>Dynamic reconfiguration mid-episode</a:t>
            </a:r>
            <a:endParaRPr/>
          </a:p>
          <a:p>
            <a:pPr indent="-304958" lvl="0" marL="457200" rtl="0" algn="l">
              <a:spcBef>
                <a:spcPts val="0"/>
              </a:spcBef>
              <a:spcAft>
                <a:spcPts val="0"/>
              </a:spcAft>
              <a:buSzPct val="100000"/>
              <a:buChar char="-"/>
            </a:pPr>
            <a:r>
              <a:rPr lang="hu"/>
              <a:t>Metrics (b</a:t>
            </a:r>
            <a:r>
              <a:rPr lang="hu"/>
              <a:t>oundary error, uniformity, collision rate</a:t>
            </a:r>
            <a:r>
              <a:rPr lang="hu"/>
              <a:t>)</a:t>
            </a:r>
            <a:endParaRPr/>
          </a:p>
          <a:p>
            <a:pPr indent="-304958" lvl="0" marL="457200" rtl="0" algn="l">
              <a:spcBef>
                <a:spcPts val="0"/>
              </a:spcBef>
              <a:spcAft>
                <a:spcPts val="0"/>
              </a:spcAft>
              <a:buSzPct val="100000"/>
              <a:buChar char="-"/>
            </a:pPr>
            <a:r>
              <a:rPr lang="hu"/>
              <a:t>Improved visualizer script</a:t>
            </a:r>
            <a:endParaRPr/>
          </a:p>
          <a:p>
            <a:pPr indent="-304958" lvl="0" marL="457200" rtl="0" algn="l">
              <a:spcBef>
                <a:spcPts val="0"/>
              </a:spcBef>
              <a:spcAft>
                <a:spcPts val="0"/>
              </a:spcAft>
              <a:buSzPct val="100000"/>
              <a:buChar char="-"/>
            </a:pPr>
            <a:r>
              <a:rPr lang="hu"/>
              <a:t>Extended and fixed unit tests</a:t>
            </a:r>
            <a:endParaRPr/>
          </a:p>
          <a:p>
            <a:pPr indent="-304958" lvl="0" marL="457200" rtl="0" algn="l">
              <a:spcBef>
                <a:spcPts val="0"/>
              </a:spcBef>
              <a:spcAft>
                <a:spcPts val="0"/>
              </a:spcAft>
              <a:buSzPct val="100000"/>
              <a:buChar char="-"/>
            </a:pPr>
            <a:r>
              <a:rPr lang="hu"/>
              <a:t>Hydra support for sweeps</a:t>
            </a:r>
            <a:endParaRPr/>
          </a:p>
          <a:p>
            <a:pPr indent="-304958" lvl="0" marL="457200" rtl="0" algn="l">
              <a:spcBef>
                <a:spcPts val="0"/>
              </a:spcBef>
              <a:spcAft>
                <a:spcPts val="0"/>
              </a:spcAft>
              <a:buSzPct val="100000"/>
              <a:buChar char="-"/>
            </a:pPr>
            <a:r>
              <a:rPr lang="hu"/>
              <a:t>Added multirun support</a:t>
            </a:r>
            <a:endParaRPr/>
          </a:p>
          <a:p>
            <a:pPr indent="-304958" lvl="0" marL="457200" rtl="0" algn="l">
              <a:spcBef>
                <a:spcPts val="0"/>
              </a:spcBef>
              <a:spcAft>
                <a:spcPts val="0"/>
              </a:spcAft>
              <a:buSzPct val="100000"/>
              <a:buChar char="-"/>
            </a:pPr>
            <a:r>
              <a:rPr lang="hu"/>
              <a:t>Ablation &amp; Analysis feature</a:t>
            </a:r>
            <a:endParaRPr/>
          </a:p>
          <a:p>
            <a:pPr indent="-304958" lvl="0" marL="457200" rtl="0" algn="l">
              <a:spcBef>
                <a:spcPts val="0"/>
              </a:spcBef>
              <a:spcAft>
                <a:spcPts val="0"/>
              </a:spcAft>
              <a:buSzPct val="100000"/>
              <a:buChar char="-"/>
            </a:pPr>
            <a:r>
              <a:rPr lang="hu"/>
              <a:t>Created comparison charts for ablation run</a:t>
            </a:r>
            <a:endParaRPr/>
          </a:p>
          <a:p>
            <a:pPr indent="-304958" lvl="0" marL="457200" rtl="0" algn="l">
              <a:spcBef>
                <a:spcPts val="0"/>
              </a:spcBef>
              <a:spcAft>
                <a:spcPts val="0"/>
              </a:spcAft>
              <a:buSzPct val="100000"/>
              <a:buChar char="-"/>
            </a:pPr>
            <a:r>
              <a:rPr lang="hu"/>
              <a:t>Dockerization fixes</a:t>
            </a:r>
            <a:endParaRPr/>
          </a:p>
          <a:p>
            <a:pPr indent="-304958" lvl="0" marL="457200" rtl="0" algn="l">
              <a:spcBef>
                <a:spcPts val="0"/>
              </a:spcBef>
              <a:spcAft>
                <a:spcPts val="0"/>
              </a:spcAft>
              <a:buSzPct val="100000"/>
              <a:buChar char="-"/>
            </a:pPr>
            <a:r>
              <a:rPr lang="hu"/>
              <a:t>Descriptive README file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Shape Model and Scenarios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SDF interface</a:t>
            </a:r>
            <a:endParaRPr/>
          </a:p>
        </p:txBody>
      </p:sp>
      <p:sp>
        <p:nvSpPr>
          <p:cNvPr id="110" name="Google Shape;110;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although there is support for 3 shapes (circle, polygon, star), there are only two shape families (Circle, Polygon), because Polygon class is generalized in a way that it can compute the signed distance for non-convex polygons also =&gt; basically defining a polygon shape is done by defining the coordinates of the vertices, and those vertices can also form non-convex shapes too</a:t>
            </a:r>
            <a:endParaRPr/>
          </a:p>
          <a:p>
            <a:pPr indent="-311150" lvl="0" marL="457200" rtl="0" algn="l">
              <a:spcBef>
                <a:spcPts val="0"/>
              </a:spcBef>
              <a:spcAft>
                <a:spcPts val="0"/>
              </a:spcAft>
              <a:buSzPts val="1300"/>
              <a:buChar char="-"/>
            </a:pPr>
            <a:r>
              <a:rPr lang="hu"/>
              <a:t>signed_distance() method of the shapes returns the signed distance, negative inside, zero on boundary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Multi-shape scenes</a:t>
            </a:r>
            <a:endParaRPr/>
          </a:p>
        </p:txBody>
      </p:sp>
      <p:sp>
        <p:nvSpPr>
          <p:cNvPr id="116" name="Google Shape;116;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there is support in the config files to define multiple shapes in one scene</a:t>
            </a:r>
            <a:endParaRPr/>
          </a:p>
          <a:p>
            <a:pPr indent="-311150" lvl="0" marL="457200" rtl="0" algn="l">
              <a:spcBef>
                <a:spcPts val="0"/>
              </a:spcBef>
              <a:spcAft>
                <a:spcPts val="0"/>
              </a:spcAft>
              <a:buSzPts val="1300"/>
              <a:buChar char="-"/>
            </a:pPr>
            <a:r>
              <a:rPr lang="hu"/>
              <a:t>shapes can also overlap each other</a:t>
            </a:r>
            <a:endParaRPr/>
          </a:p>
          <a:p>
            <a:pPr indent="-311150" lvl="0" marL="457200" rtl="0" algn="l">
              <a:spcBef>
                <a:spcPts val="0"/>
              </a:spcBef>
              <a:spcAft>
                <a:spcPts val="0"/>
              </a:spcAft>
              <a:buSzPts val="1300"/>
              <a:buChar char="-"/>
            </a:pPr>
            <a:r>
              <a:rPr lang="hu"/>
              <a:t>it should be specified how many agents should target the shapes (e.g. 4 agents to shape A, 6 agents to shape 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Dynamic Reconfiguration</a:t>
            </a:r>
            <a:endParaRPr/>
          </a:p>
        </p:txBody>
      </p:sp>
      <p:sp>
        <p:nvSpPr>
          <p:cNvPr id="122" name="Google Shape;122;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in the config file the shapes can also be changed by defining the reconfiguration_step and the reconfiguration_shape</a:t>
            </a:r>
            <a:endParaRPr/>
          </a:p>
          <a:p>
            <a:pPr indent="-311150" lvl="0" marL="457200" rtl="0" algn="l">
              <a:spcBef>
                <a:spcPts val="0"/>
              </a:spcBef>
              <a:spcAft>
                <a:spcPts val="0"/>
              </a:spcAft>
              <a:buSzPts val="1300"/>
              <a:buChar char="-"/>
            </a:pPr>
            <a:r>
              <a:rPr lang="hu"/>
              <a:t>the new shape can be defined in a similar way, just nested under a </a:t>
            </a:r>
            <a:r>
              <a:rPr lang="hu"/>
              <a:t>specific</a:t>
            </a:r>
            <a:r>
              <a:rPr lang="hu"/>
              <a:t> key</a:t>
            </a:r>
            <a:endParaRPr/>
          </a:p>
          <a:p>
            <a:pPr indent="-311150" lvl="0" marL="457200" rtl="0" algn="l">
              <a:spcBef>
                <a:spcPts val="0"/>
              </a:spcBef>
              <a:spcAft>
                <a:spcPts val="0"/>
              </a:spcAft>
              <a:buSzPts val="1300"/>
              <a:buChar char="-"/>
            </a:pPr>
            <a:r>
              <a:rPr lang="hu"/>
              <a:t>agents automatically move towards the new shape when it has changed</a:t>
            </a:r>
            <a:endParaRPr/>
          </a:p>
          <a:p>
            <a:pPr indent="-311150" lvl="0" marL="457200" rtl="0" algn="l">
              <a:spcBef>
                <a:spcPts val="0"/>
              </a:spcBef>
              <a:spcAft>
                <a:spcPts val="0"/>
              </a:spcAft>
              <a:buSzPts val="1300"/>
              <a:buChar char="-"/>
            </a:pPr>
            <a:r>
              <a:rPr lang="hu"/>
              <a:t>dynamic reconfiguration also supports multi-shape scenes (e.g. a variation of a multi-shape scene changes to another variation of it/or with totally new shapes)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Assignment strategies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Assignment strategies</a:t>
            </a:r>
            <a:endParaRPr/>
          </a:p>
        </p:txBody>
      </p:sp>
      <p:sp>
        <p:nvSpPr>
          <p:cNvPr id="133" name="Google Shape;133;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there is support for two different </a:t>
            </a:r>
            <a:r>
              <a:rPr lang="hu"/>
              <a:t>assignment</a:t>
            </a:r>
            <a:r>
              <a:rPr lang="hu"/>
              <a:t> strategies:</a:t>
            </a:r>
            <a:endParaRPr/>
          </a:p>
          <a:p>
            <a:pPr indent="-298450" lvl="1" marL="914400" rtl="0" algn="l">
              <a:spcBef>
                <a:spcPts val="0"/>
              </a:spcBef>
              <a:spcAft>
                <a:spcPts val="0"/>
              </a:spcAft>
              <a:buSzPts val="1100"/>
              <a:buChar char="-"/>
            </a:pPr>
            <a:r>
              <a:rPr lang="hu"/>
              <a:t>hungarian: each agent gets a unique target position, so they will evenly occupy the perimeter of the targeted shape; the computation of the target positions happens in an optimized way</a:t>
            </a:r>
            <a:endParaRPr/>
          </a:p>
          <a:p>
            <a:pPr indent="-298450" lvl="1" marL="914400" rtl="0" algn="l">
              <a:spcBef>
                <a:spcPts val="0"/>
              </a:spcBef>
              <a:spcAft>
                <a:spcPts val="0"/>
              </a:spcAft>
              <a:buSzPts val="1100"/>
              <a:buChar char="-"/>
            </a:pPr>
            <a:r>
              <a:rPr lang="hu"/>
              <a:t>greedy: each agent targets the closest target position to his current/starting position -&gt; multiple agents can target the same position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Observation and reward redesign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Observation and reward redesign</a:t>
            </a:r>
            <a:endParaRPr/>
          </a:p>
        </p:txBody>
      </p:sp>
      <p:sp>
        <p:nvSpPr>
          <p:cNvPr id="144" name="Google Shape;144;p23"/>
          <p:cNvSpPr txBox="1"/>
          <p:nvPr>
            <p:ph idx="1" type="body"/>
          </p:nvPr>
        </p:nvSpPr>
        <p:spPr>
          <a:xfrm>
            <a:off x="729325" y="2078875"/>
            <a:ext cx="7688400" cy="22611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hu"/>
              <a:t>the signed distance and the target positions are also taken into consideration in the case of observations and the computation of the reward</a:t>
            </a:r>
            <a:endParaRPr/>
          </a:p>
          <a:p>
            <a:pPr indent="-311150" lvl="0" marL="457200" rtl="0" algn="l">
              <a:spcBef>
                <a:spcPts val="0"/>
              </a:spcBef>
              <a:spcAft>
                <a:spcPts val="0"/>
              </a:spcAft>
              <a:buSzPts val="1300"/>
              <a:buChar char="-"/>
            </a:pPr>
            <a:r>
              <a:rPr lang="hu"/>
              <a:t>there is a reward given based on the signed distance (exp(-5*ɸ(x_i)**2), but also based on the distance to the target position </a:t>
            </a:r>
            <a:r>
              <a:rPr lang="hu"/>
              <a:t>(exp(-2*dist_to_target(x_i)**2)</a:t>
            </a:r>
            <a:endParaRPr/>
          </a:p>
          <a:p>
            <a:pPr indent="-311150" lvl="0" marL="457200" rtl="0" algn="l">
              <a:spcBef>
                <a:spcPts val="0"/>
              </a:spcBef>
              <a:spcAft>
                <a:spcPts val="0"/>
              </a:spcAft>
              <a:buSzPts val="1300"/>
              <a:buChar char="-"/>
            </a:pPr>
            <a:r>
              <a:rPr lang="hu"/>
              <a:t>future improvement ideas:</a:t>
            </a:r>
            <a:endParaRPr/>
          </a:p>
          <a:p>
            <a:pPr indent="-298450" lvl="1" marL="914400" rtl="0" algn="l">
              <a:spcBef>
                <a:spcPts val="0"/>
              </a:spcBef>
              <a:spcAft>
                <a:spcPts val="0"/>
              </a:spcAft>
              <a:buSzPts val="1100"/>
              <a:buChar char="-"/>
            </a:pPr>
            <a:r>
              <a:rPr lang="hu"/>
              <a:t>penalty for high velocity when close to target =&gt; reduce “jittering”</a:t>
            </a:r>
            <a:endParaRPr/>
          </a:p>
          <a:p>
            <a:pPr indent="-298450" lvl="1" marL="914400" rtl="0" algn="l">
              <a:spcBef>
                <a:spcPts val="0"/>
              </a:spcBef>
              <a:spcAft>
                <a:spcPts val="0"/>
              </a:spcAft>
              <a:buSzPts val="1100"/>
              <a:buChar char="-"/>
            </a:pPr>
            <a:r>
              <a:rPr lang="hu"/>
              <a:t>tweaking with the alpha values of the rewards above =&gt; possible achievement of faster convergence</a:t>
            </a:r>
            <a:endParaRPr/>
          </a:p>
          <a:p>
            <a:pPr indent="-311150" lvl="0" marL="457200" rtl="0" algn="l">
              <a:spcBef>
                <a:spcPts val="0"/>
              </a:spcBef>
              <a:spcAft>
                <a:spcPts val="0"/>
              </a:spcAft>
              <a:buSzPts val="1300"/>
              <a:buChar char="-"/>
            </a:pPr>
            <a:r>
              <a:rPr lang="hu"/>
              <a:t>failed attempts:</a:t>
            </a:r>
            <a:endParaRPr/>
          </a:p>
          <a:p>
            <a:pPr indent="-298450" lvl="1" marL="914400" rtl="0" algn="l">
              <a:spcBef>
                <a:spcPts val="0"/>
              </a:spcBef>
              <a:spcAft>
                <a:spcPts val="0"/>
              </a:spcAft>
              <a:buSzPts val="1100"/>
              <a:buChar char="-"/>
            </a:pPr>
            <a:r>
              <a:rPr lang="hu"/>
              <a:t>there has been an issue of getting infinity values, causing the calculations to “deteriorate” the done progress, the final model ending to contain NaN weights =&gt; solution: safety check both in calculations and while training (skipping epochs where we get wrong weight updates)</a:t>
            </a:r>
            <a:endParaRPr/>
          </a:p>
        </p:txBody>
      </p:sp>
      <p:sp>
        <p:nvSpPr>
          <p:cNvPr id="145" name="Google Shape;145;p23"/>
          <p:cNvSpPr txBox="1"/>
          <p:nvPr/>
        </p:nvSpPr>
        <p:spPr>
          <a:xfrm>
            <a:off x="7204475" y="1726000"/>
            <a:ext cx="1949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visualize.py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visualize.py</a:t>
            </a:r>
            <a:endParaRPr/>
          </a:p>
        </p:txBody>
      </p:sp>
      <p:sp>
        <p:nvSpPr>
          <p:cNvPr id="156" name="Google Shape;156;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the visualizer script also needed an update for a better experience of development and testing</a:t>
            </a:r>
            <a:endParaRPr/>
          </a:p>
          <a:p>
            <a:pPr indent="-311150" lvl="0" marL="457200" rtl="0" algn="l">
              <a:spcBef>
                <a:spcPts val="0"/>
              </a:spcBef>
              <a:spcAft>
                <a:spcPts val="0"/>
              </a:spcAft>
              <a:buSzPts val="1300"/>
              <a:buChar char="-"/>
            </a:pPr>
            <a:r>
              <a:rPr lang="hu"/>
              <a:t>on the exported GIF now there is also shown the target shape(s) (with dashed lines) and the target positions (with crosses)</a:t>
            </a:r>
            <a:endParaRPr/>
          </a:p>
          <a:p>
            <a:pPr indent="-311150" lvl="0" marL="457200" rtl="0" algn="l">
              <a:spcBef>
                <a:spcPts val="0"/>
              </a:spcBef>
              <a:spcAft>
                <a:spcPts val="0"/>
              </a:spcAft>
              <a:buSzPts val="1300"/>
              <a:buChar char="-"/>
            </a:pPr>
            <a:r>
              <a:rPr lang="hu"/>
              <a:t>some export settings have also been changed, so now the agents move “faster” and their movement is more smooth, caused by increasing the fps</a:t>
            </a:r>
            <a:endParaRPr/>
          </a:p>
          <a:p>
            <a:pPr indent="-311150" lvl="0" marL="457200" rtl="0" algn="l">
              <a:spcBef>
                <a:spcPts val="0"/>
              </a:spcBef>
              <a:spcAft>
                <a:spcPts val="0"/>
              </a:spcAft>
              <a:buSzPts val="1300"/>
              <a:buChar char="-"/>
            </a:pPr>
            <a:r>
              <a:rPr lang="hu"/>
              <a:t>there was an error in the initial version (from previous semester) that the processed location of the agents wasn’t the real location, so the exported GIFs never displayed the true movement of the agents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Metrics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561325" y="13272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Metrics</a:t>
            </a:r>
            <a:endParaRPr/>
          </a:p>
        </p:txBody>
      </p:sp>
      <p:sp>
        <p:nvSpPr>
          <p:cNvPr id="167" name="Google Shape;167;p27"/>
          <p:cNvSpPr txBox="1"/>
          <p:nvPr>
            <p:ph idx="1" type="body"/>
          </p:nvPr>
        </p:nvSpPr>
        <p:spPr>
          <a:xfrm>
            <a:off x="727800" y="1970325"/>
            <a:ext cx="7688400" cy="2896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w</a:t>
            </a:r>
            <a:r>
              <a:rPr lang="hu"/>
              <a:t>e introduced three metrics to help evaluate the trained model: </a:t>
            </a:r>
            <a:endParaRPr/>
          </a:p>
          <a:p>
            <a:pPr indent="-298450" lvl="1" marL="914400" rtl="0" algn="l">
              <a:spcBef>
                <a:spcPts val="0"/>
              </a:spcBef>
              <a:spcAft>
                <a:spcPts val="0"/>
              </a:spcAft>
              <a:buSzPts val="1100"/>
              <a:buChar char="-"/>
            </a:pPr>
            <a:r>
              <a:rPr b="1" lang="hu"/>
              <a:t>Boundary Error: </a:t>
            </a:r>
            <a:r>
              <a:rPr lang="hu"/>
              <a:t>Measures how close agents are to the target shape boundary using the signed distance (SDF)</a:t>
            </a:r>
            <a:r>
              <a:rPr lang="hu"/>
              <a:t> </a:t>
            </a:r>
            <a:endParaRPr/>
          </a:p>
          <a:p>
            <a:pPr indent="-298450" lvl="1" marL="914400" rtl="0" algn="l">
              <a:spcBef>
                <a:spcPts val="0"/>
              </a:spcBef>
              <a:spcAft>
                <a:spcPts val="0"/>
              </a:spcAft>
              <a:buSzPts val="1100"/>
              <a:buChar char="-"/>
            </a:pPr>
            <a:r>
              <a:rPr b="1" lang="hu"/>
              <a:t>Uniformity: </a:t>
            </a:r>
            <a:r>
              <a:rPr lang="hu"/>
              <a:t>Measures how evenly agents are distributed along the target shape</a:t>
            </a:r>
            <a:endParaRPr/>
          </a:p>
          <a:p>
            <a:pPr indent="-298450" lvl="1" marL="914400" rtl="0" algn="l">
              <a:spcBef>
                <a:spcPts val="0"/>
              </a:spcBef>
              <a:spcAft>
                <a:spcPts val="0"/>
              </a:spcAft>
              <a:buSzPts val="1100"/>
              <a:buChar char="-"/>
            </a:pPr>
            <a:r>
              <a:rPr b="1" lang="hu"/>
              <a:t>Collision Rate: </a:t>
            </a:r>
            <a:r>
              <a:rPr lang="hu"/>
              <a:t>Measures how often agents collide with each other </a:t>
            </a:r>
            <a:endParaRPr/>
          </a:p>
          <a:p>
            <a:pPr indent="-311150" lvl="0" marL="457200" rtl="0" algn="l">
              <a:spcBef>
                <a:spcPts val="0"/>
              </a:spcBef>
              <a:spcAft>
                <a:spcPts val="0"/>
              </a:spcAft>
              <a:buSzPts val="1300"/>
              <a:buChar char="-"/>
            </a:pPr>
            <a:r>
              <a:rPr lang="hu"/>
              <a:t>the metrics are printed to the CLI and logged to W&amp;B after each training run </a:t>
            </a:r>
            <a:endParaRPr/>
          </a:p>
          <a:p>
            <a:pPr indent="-311150" lvl="0" marL="457200" rtl="0" algn="l">
              <a:spcBef>
                <a:spcPts val="0"/>
              </a:spcBef>
              <a:spcAft>
                <a:spcPts val="0"/>
              </a:spcAft>
              <a:buSzPts val="1300"/>
              <a:buChar char="-"/>
            </a:pPr>
            <a:r>
              <a:rPr lang="hu"/>
              <a:t>the metrics for further analysis of the models, for example ablation studies</a:t>
            </a:r>
            <a:r>
              <a:rPr lang="hu"/>
              <a:t> </a:t>
            </a:r>
            <a:endParaRPr/>
          </a:p>
          <a:p>
            <a:pPr indent="-311150" lvl="0" marL="457200" rtl="0" algn="l">
              <a:spcBef>
                <a:spcPts val="0"/>
              </a:spcBef>
              <a:spcAft>
                <a:spcPts val="0"/>
              </a:spcAft>
              <a:buSzPts val="1300"/>
              <a:buChar char="-"/>
            </a:pPr>
            <a:r>
              <a:rPr lang="hu"/>
              <a:t>a</a:t>
            </a:r>
            <a:r>
              <a:rPr lang="hu"/>
              <a:t> known limitation is that episodes are capped at 500 steps for performance reasons</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Multirun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Multirun</a:t>
            </a:r>
            <a:endParaRPr/>
          </a:p>
        </p:txBody>
      </p:sp>
      <p:sp>
        <p:nvSpPr>
          <p:cNvPr id="178" name="Google Shape;178;p29"/>
          <p:cNvSpPr txBox="1"/>
          <p:nvPr>
            <p:ph idx="1" type="body"/>
          </p:nvPr>
        </p:nvSpPr>
        <p:spPr>
          <a:xfrm>
            <a:off x="729325" y="2078875"/>
            <a:ext cx="76884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w</a:t>
            </a:r>
            <a:r>
              <a:rPr lang="hu"/>
              <a:t>e introduced a multirun feature that allows training multiple models in a single execution </a:t>
            </a:r>
            <a:endParaRPr/>
          </a:p>
          <a:p>
            <a:pPr indent="-311150" lvl="0" marL="457200" rtl="0" algn="l">
              <a:spcBef>
                <a:spcPts val="0"/>
              </a:spcBef>
              <a:spcAft>
                <a:spcPts val="0"/>
              </a:spcAft>
              <a:buSzPts val="1300"/>
              <a:buChar char="-"/>
            </a:pPr>
            <a:r>
              <a:rPr lang="hu"/>
              <a:t>we added two Hydra sweep configuration files: </a:t>
            </a:r>
            <a:endParaRPr/>
          </a:p>
          <a:p>
            <a:pPr indent="-298450" lvl="1" marL="914400" rtl="0" algn="l">
              <a:spcBef>
                <a:spcPts val="0"/>
              </a:spcBef>
              <a:spcAft>
                <a:spcPts val="0"/>
              </a:spcAft>
              <a:buSzPts val="1100"/>
              <a:buChar char="-"/>
            </a:pPr>
            <a:r>
              <a:rPr lang="hu"/>
              <a:t>sweep_lr: sweeps the learning rate </a:t>
            </a:r>
            <a:endParaRPr/>
          </a:p>
          <a:p>
            <a:pPr indent="-298450" lvl="1" marL="914400" rtl="0" algn="l">
              <a:spcBef>
                <a:spcPts val="0"/>
              </a:spcBef>
              <a:spcAft>
                <a:spcPts val="0"/>
              </a:spcAft>
              <a:buSzPts val="1100"/>
              <a:buChar char="-"/>
            </a:pPr>
            <a:r>
              <a:rPr lang="hu"/>
              <a:t>sweep_assign: sweeps the assignment strategy </a:t>
            </a:r>
            <a:endParaRPr/>
          </a:p>
          <a:p>
            <a:pPr indent="-311150" lvl="0" marL="457200" rtl="0" algn="l">
              <a:spcBef>
                <a:spcPts val="0"/>
              </a:spcBef>
              <a:spcAft>
                <a:spcPts val="0"/>
              </a:spcAft>
              <a:buSzPts val="1300"/>
              <a:buChar char="-"/>
            </a:pPr>
            <a:r>
              <a:rPr lang="hu"/>
              <a:t>to improve storage and space management, we implemented a dedicated multirun directory with a clear folder structure for organizing outputs (date + time)</a:t>
            </a:r>
            <a:endParaRPr/>
          </a:p>
          <a:p>
            <a:pPr indent="-311150" lvl="0" marL="457200" rtl="0" algn="l">
              <a:spcBef>
                <a:spcPts val="0"/>
              </a:spcBef>
              <a:spcAft>
                <a:spcPts val="0"/>
              </a:spcAft>
              <a:buSzPts val="1300"/>
              <a:buChar char="-"/>
            </a:pPr>
            <a:r>
              <a:rPr lang="hu"/>
              <a:t>finally, we introduced seed parameters to ensure experiment reproducibility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Ablation &amp; Analysis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Ablation &amp; Analysis process</a:t>
            </a:r>
            <a:endParaRPr/>
          </a:p>
          <a:p>
            <a:pPr indent="0" lvl="0" marL="0" rtl="0" algn="l">
              <a:spcBef>
                <a:spcPts val="0"/>
              </a:spcBef>
              <a:spcAft>
                <a:spcPts val="0"/>
              </a:spcAft>
              <a:buNone/>
            </a:pPr>
            <a:r>
              <a:t/>
            </a:r>
            <a:endParaRPr/>
          </a:p>
        </p:txBody>
      </p:sp>
      <p:sp>
        <p:nvSpPr>
          <p:cNvPr id="189" name="Google Shape;189;p31"/>
          <p:cNvSpPr txBox="1"/>
          <p:nvPr>
            <p:ph idx="1" type="body"/>
          </p:nvPr>
        </p:nvSpPr>
        <p:spPr>
          <a:xfrm>
            <a:off x="729325" y="2078875"/>
            <a:ext cx="7887600" cy="2602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t</a:t>
            </a:r>
            <a:r>
              <a:rPr lang="hu"/>
              <a:t>o run the ablation analysis, you first need to configure and execute a multirun (you can use sweep_assign and/or sweep_lr)</a:t>
            </a:r>
            <a:endParaRPr/>
          </a:p>
          <a:p>
            <a:pPr indent="-311150" lvl="0" marL="457200" rtl="0" algn="l">
              <a:spcBef>
                <a:spcPts val="0"/>
              </a:spcBef>
              <a:spcAft>
                <a:spcPts val="0"/>
              </a:spcAft>
              <a:buSzPts val="1300"/>
              <a:buChar char="-"/>
            </a:pPr>
            <a:r>
              <a:rPr lang="hu"/>
              <a:t> the analysis script then aggregates results across seeds and prints the mean and standard deviation for each configuration among the models trained in the same multirun </a:t>
            </a:r>
            <a:endParaRPr/>
          </a:p>
          <a:p>
            <a:pPr indent="-311150" lvl="0" marL="457200" rtl="0" algn="l">
              <a:spcBef>
                <a:spcPts val="0"/>
              </a:spcBef>
              <a:spcAft>
                <a:spcPts val="0"/>
              </a:spcAft>
              <a:buSzPts val="1300"/>
              <a:buChar char="-"/>
            </a:pPr>
            <a:r>
              <a:rPr lang="hu"/>
              <a:t>you must provide a sweep_id to the ablation analyzer so it can filter and evaluate only the models produced within that specific multirun</a:t>
            </a:r>
            <a:r>
              <a:rPr lang="hu"/>
              <a:t> </a:t>
            </a:r>
            <a:endParaRPr/>
          </a:p>
          <a:p>
            <a:pPr indent="-311150" lvl="0" marL="457200" rtl="0" algn="l">
              <a:spcBef>
                <a:spcPts val="0"/>
              </a:spcBef>
              <a:spcAft>
                <a:spcPts val="0"/>
              </a:spcAft>
              <a:buSzPts val="1300"/>
              <a:buChar char="-"/>
            </a:pPr>
            <a:r>
              <a:rPr lang="hu"/>
              <a:t>finally, the analyzer generates a CSV file containing the key properties and metrics of the analyzed models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Example of generated CSV file row</a:t>
            </a:r>
            <a:endParaRPr/>
          </a:p>
          <a:p>
            <a:pPr indent="0" lvl="0" marL="0" rtl="0" algn="l">
              <a:spcBef>
                <a:spcPts val="0"/>
              </a:spcBef>
              <a:spcAft>
                <a:spcPts val="0"/>
              </a:spcAft>
              <a:buNone/>
            </a:pPr>
            <a:r>
              <a:t/>
            </a:r>
            <a:endParaRPr/>
          </a:p>
        </p:txBody>
      </p:sp>
      <p:graphicFrame>
        <p:nvGraphicFramePr>
          <p:cNvPr id="195" name="Google Shape;195;p32"/>
          <p:cNvGraphicFramePr/>
          <p:nvPr/>
        </p:nvGraphicFramePr>
        <p:xfrm>
          <a:off x="432525" y="2134150"/>
          <a:ext cx="3000000" cy="3000000"/>
        </p:xfrm>
        <a:graphic>
          <a:graphicData uri="http://schemas.openxmlformats.org/drawingml/2006/table">
            <a:tbl>
              <a:tblPr>
                <a:noFill/>
                <a:tableStyleId>{B2F794A6-AB1B-40BB-A508-E327C009875F}</a:tableStyleId>
              </a:tblPr>
              <a:tblGrid>
                <a:gridCol w="1172575"/>
                <a:gridCol w="1172575"/>
                <a:gridCol w="1172575"/>
                <a:gridCol w="1172575"/>
                <a:gridCol w="1172575"/>
                <a:gridCol w="1172575"/>
                <a:gridCol w="1172575"/>
              </a:tblGrid>
              <a:tr h="907875">
                <a:tc>
                  <a:txBody>
                    <a:bodyPr/>
                    <a:lstStyle/>
                    <a:p>
                      <a:pPr indent="0" lvl="0" marL="0" rtl="0" algn="ctr">
                        <a:spcBef>
                          <a:spcPts val="0"/>
                        </a:spcBef>
                        <a:spcAft>
                          <a:spcPts val="0"/>
                        </a:spcAft>
                        <a:buNone/>
                      </a:pPr>
                      <a:r>
                        <a:rPr lang="hu" sz="1200"/>
                        <a:t>Run</a:t>
                      </a:r>
                      <a:endParaRPr sz="1200"/>
                    </a:p>
                  </a:txBody>
                  <a:tcPr marT="91425" marB="91425" marR="91425" marL="91425" anchor="ctr"/>
                </a:tc>
                <a:tc>
                  <a:txBody>
                    <a:bodyPr/>
                    <a:lstStyle/>
                    <a:p>
                      <a:pPr indent="0" lvl="0" marL="0" rtl="0" algn="ctr">
                        <a:spcBef>
                          <a:spcPts val="0"/>
                        </a:spcBef>
                        <a:spcAft>
                          <a:spcPts val="0"/>
                        </a:spcAft>
                        <a:buNone/>
                      </a:pPr>
                      <a:r>
                        <a:rPr lang="hu" sz="1200"/>
                        <a:t>Learning Rate</a:t>
                      </a:r>
                      <a:endParaRPr sz="1200"/>
                    </a:p>
                  </a:txBody>
                  <a:tcPr marT="91425" marB="91425" marR="91425" marL="91425" anchor="ctr"/>
                </a:tc>
                <a:tc>
                  <a:txBody>
                    <a:bodyPr/>
                    <a:lstStyle/>
                    <a:p>
                      <a:pPr indent="0" lvl="0" marL="0" rtl="0" algn="ctr">
                        <a:spcBef>
                          <a:spcPts val="0"/>
                        </a:spcBef>
                        <a:spcAft>
                          <a:spcPts val="0"/>
                        </a:spcAft>
                        <a:buNone/>
                      </a:pPr>
                      <a:r>
                        <a:rPr lang="hu" sz="1200"/>
                        <a:t>Seed</a:t>
                      </a:r>
                      <a:endParaRPr sz="1200"/>
                    </a:p>
                  </a:txBody>
                  <a:tcPr marT="91425" marB="91425" marR="91425" marL="91425" anchor="ctr"/>
                </a:tc>
                <a:tc>
                  <a:txBody>
                    <a:bodyPr/>
                    <a:lstStyle/>
                    <a:p>
                      <a:pPr indent="0" lvl="0" marL="0" rtl="0" algn="ctr">
                        <a:spcBef>
                          <a:spcPts val="0"/>
                        </a:spcBef>
                        <a:spcAft>
                          <a:spcPts val="0"/>
                        </a:spcAft>
                        <a:buNone/>
                      </a:pPr>
                      <a:r>
                        <a:rPr lang="hu" sz="1200"/>
                        <a:t>Boundary Error (mean)</a:t>
                      </a:r>
                      <a:endParaRPr sz="1200"/>
                    </a:p>
                  </a:txBody>
                  <a:tcPr marT="91425" marB="91425" marR="91425" marL="91425" anchor="ctr"/>
                </a:tc>
                <a:tc>
                  <a:txBody>
                    <a:bodyPr/>
                    <a:lstStyle/>
                    <a:p>
                      <a:pPr indent="0" lvl="0" marL="0" rtl="0" algn="ctr">
                        <a:spcBef>
                          <a:spcPts val="0"/>
                        </a:spcBef>
                        <a:spcAft>
                          <a:spcPts val="0"/>
                        </a:spcAft>
                        <a:buNone/>
                      </a:pPr>
                      <a:r>
                        <a:rPr lang="hu" sz="1200"/>
                        <a:t>Boundary Error (max)</a:t>
                      </a:r>
                      <a:endParaRPr sz="1200"/>
                    </a:p>
                    <a:p>
                      <a:pPr indent="0" lvl="0" marL="0" rtl="0" algn="ctr">
                        <a:spcBef>
                          <a:spcPts val="0"/>
                        </a:spcBef>
                        <a:spcAft>
                          <a:spcPts val="0"/>
                        </a:spcAft>
                        <a:buNone/>
                      </a:pPr>
                      <a:r>
                        <a:t/>
                      </a:r>
                      <a:endParaRPr sz="1200"/>
                    </a:p>
                  </a:txBody>
                  <a:tcPr marT="91425" marB="91425" marR="91425" marL="91425" anchor="ctr"/>
                </a:tc>
                <a:tc>
                  <a:txBody>
                    <a:bodyPr/>
                    <a:lstStyle/>
                    <a:p>
                      <a:pPr indent="0" lvl="0" marL="0" rtl="0" algn="ctr">
                        <a:spcBef>
                          <a:spcPts val="0"/>
                        </a:spcBef>
                        <a:spcAft>
                          <a:spcPts val="0"/>
                        </a:spcAft>
                        <a:buNone/>
                      </a:pPr>
                      <a:r>
                        <a:rPr lang="hu" sz="1200"/>
                        <a:t>Uniformity (coeff)</a:t>
                      </a:r>
                      <a:endParaRPr sz="1200"/>
                    </a:p>
                    <a:p>
                      <a:pPr indent="0" lvl="0" marL="0" rtl="0" algn="ctr">
                        <a:spcBef>
                          <a:spcPts val="0"/>
                        </a:spcBef>
                        <a:spcAft>
                          <a:spcPts val="0"/>
                        </a:spcAft>
                        <a:buNone/>
                      </a:pPr>
                      <a:r>
                        <a:t/>
                      </a:r>
                      <a:endParaRPr sz="1200"/>
                    </a:p>
                  </a:txBody>
                  <a:tcPr marT="91425" marB="91425" marR="91425" marL="91425" anchor="ctr"/>
                </a:tc>
                <a:tc>
                  <a:txBody>
                    <a:bodyPr/>
                    <a:lstStyle/>
                    <a:p>
                      <a:pPr indent="0" lvl="0" marL="0" rtl="0" algn="ctr">
                        <a:spcBef>
                          <a:spcPts val="0"/>
                        </a:spcBef>
                        <a:spcAft>
                          <a:spcPts val="0"/>
                        </a:spcAft>
                        <a:buNone/>
                      </a:pPr>
                      <a:r>
                        <a:rPr lang="hu" sz="1200"/>
                        <a:t>Collision Rate</a:t>
                      </a:r>
                      <a:endParaRPr sz="1200"/>
                    </a:p>
                    <a:p>
                      <a:pPr indent="0" lvl="0" marL="0" rtl="0" algn="ctr">
                        <a:spcBef>
                          <a:spcPts val="0"/>
                        </a:spcBef>
                        <a:spcAft>
                          <a:spcPts val="0"/>
                        </a:spcAft>
                        <a:buNone/>
                      </a:pPr>
                      <a:r>
                        <a:t/>
                      </a:r>
                      <a:endParaRPr sz="1200"/>
                    </a:p>
                  </a:txBody>
                  <a:tcPr marT="91425" marB="91425" marR="91425" marL="91425" anchor="ctr"/>
                </a:tc>
              </a:tr>
              <a:tr h="907875">
                <a:tc>
                  <a:txBody>
                    <a:bodyPr/>
                    <a:lstStyle/>
                    <a:p>
                      <a:pPr indent="0" lvl="0" marL="0" rtl="0" algn="ctr">
                        <a:spcBef>
                          <a:spcPts val="0"/>
                        </a:spcBef>
                        <a:spcAft>
                          <a:spcPts val="0"/>
                        </a:spcAft>
                        <a:buNone/>
                      </a:pPr>
                      <a:r>
                        <a:rPr lang="hu" sz="1200"/>
                        <a:t>run-20251220_232632-894dzw7w</a:t>
                      </a:r>
                      <a:endParaRPr sz="1200"/>
                    </a:p>
                  </a:txBody>
                  <a:tcPr marT="91425" marB="91425" marR="91425" marL="91425" anchor="ctr"/>
                </a:tc>
                <a:tc>
                  <a:txBody>
                    <a:bodyPr/>
                    <a:lstStyle/>
                    <a:p>
                      <a:pPr indent="0" lvl="0" marL="0" rtl="0" algn="ctr">
                        <a:spcBef>
                          <a:spcPts val="0"/>
                        </a:spcBef>
                        <a:spcAft>
                          <a:spcPts val="0"/>
                        </a:spcAft>
                        <a:buNone/>
                      </a:pPr>
                      <a:r>
                        <a:rPr lang="hu" sz="1200"/>
                        <a:t>0.01</a:t>
                      </a:r>
                      <a:endParaRPr sz="1200"/>
                    </a:p>
                  </a:txBody>
                  <a:tcPr marT="91425" marB="91425" marR="91425" marL="91425" anchor="ctr"/>
                </a:tc>
                <a:tc>
                  <a:txBody>
                    <a:bodyPr/>
                    <a:lstStyle/>
                    <a:p>
                      <a:pPr indent="0" lvl="0" marL="0" rtl="0" algn="ctr">
                        <a:spcBef>
                          <a:spcPts val="0"/>
                        </a:spcBef>
                        <a:spcAft>
                          <a:spcPts val="0"/>
                        </a:spcAft>
                        <a:buNone/>
                      </a:pPr>
                      <a:r>
                        <a:rPr lang="hu" sz="1200"/>
                        <a:t>1</a:t>
                      </a:r>
                      <a:endParaRPr sz="1200"/>
                    </a:p>
                  </a:txBody>
                  <a:tcPr marT="91425" marB="91425" marR="91425" marL="91425" anchor="ctr"/>
                </a:tc>
                <a:tc>
                  <a:txBody>
                    <a:bodyPr/>
                    <a:lstStyle/>
                    <a:p>
                      <a:pPr indent="0" lvl="0" marL="0" rtl="0" algn="ctr">
                        <a:spcBef>
                          <a:spcPts val="0"/>
                        </a:spcBef>
                        <a:spcAft>
                          <a:spcPts val="0"/>
                        </a:spcAft>
                        <a:buNone/>
                      </a:pPr>
                      <a:r>
                        <a:rPr lang="hu" sz="1200"/>
                        <a:t>3.520</a:t>
                      </a:r>
                      <a:endParaRPr sz="1200"/>
                    </a:p>
                  </a:txBody>
                  <a:tcPr marT="91425" marB="91425" marR="91425" marL="91425" anchor="ctr"/>
                </a:tc>
                <a:tc>
                  <a:txBody>
                    <a:bodyPr/>
                    <a:lstStyle/>
                    <a:p>
                      <a:pPr indent="0" lvl="0" marL="0" rtl="0" algn="ctr">
                        <a:spcBef>
                          <a:spcPts val="0"/>
                        </a:spcBef>
                        <a:spcAft>
                          <a:spcPts val="0"/>
                        </a:spcAft>
                        <a:buNone/>
                      </a:pPr>
                      <a:r>
                        <a:rPr lang="hu" sz="1200"/>
                        <a:t>6.937</a:t>
                      </a:r>
                      <a:endParaRPr sz="1200"/>
                    </a:p>
                  </a:txBody>
                  <a:tcPr marT="91425" marB="91425" marR="91425" marL="91425" anchor="ctr"/>
                </a:tc>
                <a:tc>
                  <a:txBody>
                    <a:bodyPr/>
                    <a:lstStyle/>
                    <a:p>
                      <a:pPr indent="0" lvl="0" marL="0" rtl="0" algn="ctr">
                        <a:spcBef>
                          <a:spcPts val="0"/>
                        </a:spcBef>
                        <a:spcAft>
                          <a:spcPts val="0"/>
                        </a:spcAft>
                        <a:buNone/>
                      </a:pPr>
                      <a:r>
                        <a:rPr lang="hu" sz="1200"/>
                        <a:t>0.803</a:t>
                      </a:r>
                      <a:endParaRPr sz="1200"/>
                    </a:p>
                  </a:txBody>
                  <a:tcPr marT="91425" marB="91425" marR="91425" marL="91425" anchor="ctr"/>
                </a:tc>
                <a:tc>
                  <a:txBody>
                    <a:bodyPr/>
                    <a:lstStyle/>
                    <a:p>
                      <a:pPr indent="0" lvl="0" marL="0" rtl="0" algn="ctr">
                        <a:spcBef>
                          <a:spcPts val="0"/>
                        </a:spcBef>
                        <a:spcAft>
                          <a:spcPts val="0"/>
                        </a:spcAft>
                        <a:buNone/>
                      </a:pPr>
                      <a:r>
                        <a:rPr lang="hu" sz="1200"/>
                        <a:t>0.352</a:t>
                      </a:r>
                      <a:endParaRPr sz="1200"/>
                    </a:p>
                  </a:txBody>
                  <a:tcPr marT="91425" marB="91425" marR="91425" marL="91425" anchor="ct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Chart creation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Chart Generation for ablation</a:t>
            </a:r>
            <a:endParaRPr/>
          </a:p>
          <a:p>
            <a:pPr indent="0" lvl="0" marL="0" rtl="0" algn="l">
              <a:spcBef>
                <a:spcPts val="0"/>
              </a:spcBef>
              <a:spcAft>
                <a:spcPts val="0"/>
              </a:spcAft>
              <a:buNone/>
            </a:pPr>
            <a:r>
              <a:t/>
            </a:r>
            <a:endParaRPr/>
          </a:p>
        </p:txBody>
      </p:sp>
      <p:sp>
        <p:nvSpPr>
          <p:cNvPr id="206" name="Google Shape;206;p34"/>
          <p:cNvSpPr txBox="1"/>
          <p:nvPr>
            <p:ph idx="1" type="body"/>
          </p:nvPr>
        </p:nvSpPr>
        <p:spPr>
          <a:xfrm>
            <a:off x="729325" y="2078875"/>
            <a:ext cx="7887600" cy="2602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w</a:t>
            </a:r>
            <a:r>
              <a:rPr lang="hu"/>
              <a:t>e store the aggregated ablation results </a:t>
            </a:r>
            <a:endParaRPr/>
          </a:p>
          <a:p>
            <a:pPr indent="-311150" lvl="0" marL="457200" rtl="0" algn="l">
              <a:spcBef>
                <a:spcPts val="0"/>
              </a:spcBef>
              <a:spcAft>
                <a:spcPts val="0"/>
              </a:spcAft>
              <a:buSzPts val="1300"/>
              <a:buChar char="-"/>
            </a:pPr>
            <a:r>
              <a:rPr lang="hu"/>
              <a:t>the /scripts/plot_runs_csv.py script generates charts from the CSV file produced by analyze_ablations.py </a:t>
            </a:r>
            <a:endParaRPr/>
          </a:p>
          <a:p>
            <a:pPr indent="-311150" lvl="0" marL="457200" rtl="0" algn="l">
              <a:spcBef>
                <a:spcPts val="0"/>
              </a:spcBef>
              <a:spcAft>
                <a:spcPts val="0"/>
              </a:spcAft>
              <a:buSzPts val="1300"/>
              <a:buChar char="-"/>
            </a:pPr>
            <a:r>
              <a:rPr lang="hu"/>
              <a:t>we aggregate metrics across different seed runs using the provided where filter, and then compare the aggregated configurations visually in the resulting charts</a:t>
            </a:r>
            <a:endParaRPr/>
          </a:p>
          <a:p>
            <a:pPr indent="-311150" lvl="0" marL="457200" rtl="0" algn="l">
              <a:spcBef>
                <a:spcPts val="0"/>
              </a:spcBef>
              <a:spcAft>
                <a:spcPts val="0"/>
              </a:spcAft>
              <a:buSzPts val="1300"/>
              <a:buChar char="-"/>
            </a:pPr>
            <a:r>
              <a:rPr lang="hu"/>
              <a:t>a possible future improvement is to introduce other chart types and make this code reusable for other features as well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Ablation run chart comparison</a:t>
            </a:r>
            <a:endParaRPr/>
          </a:p>
          <a:p>
            <a:pPr indent="0" lvl="0" marL="0" rtl="0" algn="l">
              <a:spcBef>
                <a:spcPts val="0"/>
              </a:spcBef>
              <a:spcAft>
                <a:spcPts val="0"/>
              </a:spcAft>
              <a:buNone/>
            </a:pPr>
            <a:r>
              <a:t/>
            </a:r>
            <a:endParaRPr/>
          </a:p>
        </p:txBody>
      </p:sp>
      <p:sp>
        <p:nvSpPr>
          <p:cNvPr id="212" name="Google Shape;212;p35"/>
          <p:cNvSpPr txBox="1"/>
          <p:nvPr>
            <p:ph idx="1" type="body"/>
          </p:nvPr>
        </p:nvSpPr>
        <p:spPr>
          <a:xfrm>
            <a:off x="729325" y="2078875"/>
            <a:ext cx="2994600" cy="2602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o</a:t>
            </a:r>
            <a:r>
              <a:rPr lang="hu"/>
              <a:t>ur chart compares the three core metrics and the training reward</a:t>
            </a:r>
            <a:endParaRPr/>
          </a:p>
          <a:p>
            <a:pPr indent="-311150" lvl="0" marL="457200" rtl="0" algn="l">
              <a:spcBef>
                <a:spcPts val="0"/>
              </a:spcBef>
              <a:spcAft>
                <a:spcPts val="0"/>
              </a:spcAft>
              <a:buSzPts val="1300"/>
              <a:buChar char="-"/>
            </a:pPr>
            <a:r>
              <a:rPr lang="hu"/>
              <a:t>each column value is computed from the mean and standard deviation of runs that share the same configuration but use different seeds </a:t>
            </a:r>
            <a:endParaRPr/>
          </a:p>
          <a:p>
            <a:pPr indent="-311150" lvl="0" marL="457200" rtl="0" algn="l">
              <a:spcBef>
                <a:spcPts val="0"/>
              </a:spcBef>
              <a:spcAft>
                <a:spcPts val="0"/>
              </a:spcAft>
              <a:buSzPts val="1300"/>
              <a:buChar char="-"/>
            </a:pPr>
            <a:r>
              <a:rPr lang="hu"/>
              <a:t>all charts are generated from this previously aggregated data. </a:t>
            </a:r>
            <a:endParaRPr/>
          </a:p>
        </p:txBody>
      </p:sp>
      <p:pic>
        <p:nvPicPr>
          <p:cNvPr id="213" name="Google Shape;213;p35"/>
          <p:cNvPicPr preferRelativeResize="0"/>
          <p:nvPr/>
        </p:nvPicPr>
        <p:blipFill>
          <a:blip r:embed="rId3">
            <a:alphaModFix/>
          </a:blip>
          <a:stretch>
            <a:fillRect/>
          </a:stretch>
        </p:blipFill>
        <p:spPr>
          <a:xfrm>
            <a:off x="4219825" y="1811275"/>
            <a:ext cx="4800715" cy="29848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729450" y="1318650"/>
            <a:ext cx="3254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hu"/>
              <a:t>Generated GIF</a:t>
            </a:r>
            <a:endParaRPr/>
          </a:p>
        </p:txBody>
      </p:sp>
      <p:sp>
        <p:nvSpPr>
          <p:cNvPr id="219" name="Google Shape;219;p36"/>
          <p:cNvSpPr txBox="1"/>
          <p:nvPr>
            <p:ph idx="1" type="body"/>
          </p:nvPr>
        </p:nvSpPr>
        <p:spPr>
          <a:xfrm>
            <a:off x="729325" y="2078875"/>
            <a:ext cx="3003900" cy="2602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hu"/>
              <a:t>g</a:t>
            </a:r>
            <a:r>
              <a:rPr lang="hu"/>
              <a:t>enerated by running the default_exp.yaml experiment</a:t>
            </a:r>
            <a:endParaRPr/>
          </a:p>
          <a:p>
            <a:pPr indent="-311150" lvl="0" marL="457200" rtl="0" algn="l">
              <a:spcBef>
                <a:spcPts val="0"/>
              </a:spcBef>
              <a:spcAft>
                <a:spcPts val="0"/>
              </a:spcAft>
              <a:buSzPts val="1300"/>
              <a:buChar char="-"/>
            </a:pPr>
            <a:r>
              <a:rPr lang="hu"/>
              <a:t>the GIF is included in the repository as formation.gif file</a:t>
            </a:r>
            <a:endParaRPr/>
          </a:p>
        </p:txBody>
      </p:sp>
      <p:pic>
        <p:nvPicPr>
          <p:cNvPr id="220" name="Google Shape;220;p36"/>
          <p:cNvPicPr preferRelativeResize="0"/>
          <p:nvPr/>
        </p:nvPicPr>
        <p:blipFill>
          <a:blip r:embed="rId3">
            <a:alphaModFix/>
          </a:blip>
          <a:stretch>
            <a:fillRect/>
          </a:stretch>
        </p:blipFill>
        <p:spPr>
          <a:xfrm>
            <a:off x="4522500" y="613375"/>
            <a:ext cx="4047925" cy="406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Thank you!</a:t>
            </a:r>
            <a:endParaRPr/>
          </a:p>
        </p:txBody>
      </p:sp>
      <p:sp>
        <p:nvSpPr>
          <p:cNvPr id="226" name="Google Shape;226;p37"/>
          <p:cNvSpPr txBox="1"/>
          <p:nvPr>
            <p:ph idx="1" type="subTitle"/>
          </p:nvPr>
        </p:nvSpPr>
        <p:spPr>
          <a:xfrm>
            <a:off x="724950" y="3161525"/>
            <a:ext cx="3300900" cy="94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Contributors:</a:t>
            </a:r>
            <a:endParaRPr/>
          </a:p>
          <a:p>
            <a:pPr indent="-330200" lvl="0" marL="457200" rtl="0" algn="l">
              <a:spcBef>
                <a:spcPts val="0"/>
              </a:spcBef>
              <a:spcAft>
                <a:spcPts val="0"/>
              </a:spcAft>
              <a:buSzPts val="1600"/>
              <a:buChar char="-"/>
            </a:pPr>
            <a:r>
              <a:rPr lang="hu"/>
              <a:t>Márk Róbert Baricz</a:t>
            </a:r>
            <a:endParaRPr/>
          </a:p>
          <a:p>
            <a:pPr indent="-330200" lvl="0" marL="457200" rtl="0" algn="l">
              <a:spcBef>
                <a:spcPts val="0"/>
              </a:spcBef>
              <a:spcAft>
                <a:spcPts val="0"/>
              </a:spcAft>
              <a:buSzPts val="1600"/>
              <a:buChar char="-"/>
            </a:pPr>
            <a:r>
              <a:rPr lang="hu"/>
              <a:t>Richard Sipos</a:t>
            </a:r>
            <a:endParaRPr/>
          </a:p>
        </p:txBody>
      </p:sp>
      <p:sp>
        <p:nvSpPr>
          <p:cNvPr id="227" name="Google Shape;227;p37"/>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hu"/>
              <a:t>More information about the project can be found in the README file.</a:t>
            </a:r>
            <a:endParaRPr/>
          </a:p>
          <a:p>
            <a:pPr indent="0" lvl="0" marL="0" rtl="0" algn="l">
              <a:spcBef>
                <a:spcPts val="1200"/>
              </a:spcBef>
              <a:spcAft>
                <a:spcPts val="1200"/>
              </a:spcAft>
              <a:buNone/>
            </a:pPr>
            <a:r>
              <a:rPr lang="hu" sz="1200" u="sng">
                <a:solidFill>
                  <a:schemeClr val="hlink"/>
                </a:solidFill>
                <a:hlinkClick r:id="rId3"/>
              </a:rPr>
              <a:t>https://github.com/elte-collective-intelligence/student-formation/tree/2025/26/1</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